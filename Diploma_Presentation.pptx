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06e67a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206e67a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206e67a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206e67a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06e67a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206e67a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206e67a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206e67a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06e67a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06e67a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206e67a2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206e67a2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06e67a2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06e67a2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1569d9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31569d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1569d95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31569d95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31569d950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31569d950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31569d95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31569d95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206e67a2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206e67a2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206e67a2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206e67a2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Презентация для руководства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Литвинов Егор. Когорта-22. Дипломный проект. Яндекс Практикум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ОПУ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0" y="572700"/>
            <a:ext cx="91779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572700"/>
            <a:ext cx="4161000" cy="21516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"/>
                <a:ea typeface="Oswald"/>
                <a:cs typeface="Oswald"/>
                <a:sym typeface="Oswald"/>
              </a:rPr>
              <a:t>Зафиксирован почти </a:t>
            </a:r>
            <a:r>
              <a:rPr lang="ru" sz="1800">
                <a:latin typeface="Oswald"/>
                <a:ea typeface="Oswald"/>
                <a:cs typeface="Oswald"/>
                <a:sym typeface="Oswald"/>
              </a:rPr>
              <a:t>двукратный</a:t>
            </a:r>
            <a:r>
              <a:rPr lang="ru" sz="1800">
                <a:latin typeface="Oswald"/>
                <a:ea typeface="Oswald"/>
                <a:cs typeface="Oswald"/>
                <a:sym typeface="Oswald"/>
              </a:rPr>
              <a:t> рост выручки - с 59032 до 103004 с 2025 по 2029 годы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536300" y="572700"/>
            <a:ext cx="4607700" cy="21516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"/>
                <a:ea typeface="Oswald"/>
                <a:cs typeface="Oswald"/>
                <a:sym typeface="Oswald"/>
              </a:rPr>
              <a:t>Показатель </a:t>
            </a:r>
            <a:r>
              <a:rPr lang="ru" sz="1800">
                <a:latin typeface="Oswald"/>
                <a:ea typeface="Oswald"/>
                <a:cs typeface="Oswald"/>
                <a:sym typeface="Oswald"/>
              </a:rPr>
              <a:t>EBITDA</a:t>
            </a:r>
            <a:r>
              <a:rPr lang="ru" sz="1800">
                <a:latin typeface="Oswald"/>
                <a:ea typeface="Oswald"/>
                <a:cs typeface="Oswald"/>
                <a:sym typeface="Oswald"/>
              </a:rPr>
              <a:t>, напротив, падает с 20730 до отрицательного значения -1750 за 2024 - 2029 годы.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2099100" y="3852000"/>
            <a:ext cx="4607700" cy="1291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Вывод: Бизнес-модель теряет маржинальность. С каждым новым рублем выручки компания генерирует всё больше убытков.</a:t>
            </a:r>
            <a:endParaRPr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" name="Google Shape;70;p14"/>
          <p:cNvSpPr/>
          <p:nvPr/>
        </p:nvSpPr>
        <p:spPr>
          <a:xfrm rot="5400000">
            <a:off x="3182100" y="2869500"/>
            <a:ext cx="1124100" cy="83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1" name="Google Shape;71;p14"/>
          <p:cNvSpPr/>
          <p:nvPr/>
        </p:nvSpPr>
        <p:spPr>
          <a:xfrm rot="5400000">
            <a:off x="5269825" y="2869500"/>
            <a:ext cx="1124100" cy="83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CASH FLOW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572700"/>
            <a:ext cx="3595200" cy="1473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"/>
                <a:ea typeface="Oswald"/>
                <a:cs typeface="Oswald"/>
                <a:sym typeface="Oswald"/>
              </a:rPr>
              <a:t>Несмотря на падение прибыли, Сальдо денежного потока (Net Cash Flow) растет (с 1 322 до 6 372).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0" y="3066750"/>
            <a:ext cx="9144000" cy="2076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Это может указывать на то, что компания «вымывает» оборотные средства, распродает активы или не 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инвестирует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в развитие (CAPEX), что подтверждается снижением строки «Основные средства» в балансе. Компании необходимо задуматься о том, чтобы </a:t>
            </a:r>
            <a:r>
              <a:rPr lang="ru" sz="1800">
                <a:latin typeface="Oswald"/>
                <a:ea typeface="Oswald"/>
                <a:cs typeface="Oswald"/>
                <a:sym typeface="Oswald"/>
              </a:rPr>
              <a:t>формировать резервы, инвестировать в дальнейшее развитие, выплачивать дивиденды или гасить внешние обязательства без риска для операционной деятельности.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740175" y="572700"/>
            <a:ext cx="5370900" cy="1757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Поступления:</a:t>
            </a: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выросли с 65 996 до 109 441 (рост примерно на </a:t>
            </a: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66%</a:t>
            </a: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Это говорит о масштабировании бизнеса, увеличении продаж или эффективной работе с дебиторской задолженностью. </a:t>
            </a:r>
            <a:endParaRPr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Oswald"/>
                <a:ea typeface="Oswald"/>
                <a:cs typeface="Oswald"/>
                <a:sym typeface="Oswald"/>
              </a:rPr>
              <a:t>Выбытия:</a:t>
            </a:r>
            <a:r>
              <a:rPr lang="ru">
                <a:latin typeface="Oswald"/>
                <a:ea typeface="Oswald"/>
                <a:cs typeface="Oswald"/>
                <a:sym typeface="Oswald"/>
              </a:rPr>
              <a:t> также растут (с 10 841 до 19 573), что естественно при росте оборотов, однако темп их роста ниже, чем у поступлений.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377050" y="2143750"/>
            <a:ext cx="774300" cy="8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949950" y="2363325"/>
            <a:ext cx="409500" cy="669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УПРАВЛЕНЧЕСКИЙ БАЛАНС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15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50" y="572700"/>
            <a:ext cx="3840600" cy="16254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Основные средства» плавно сокращаются (с 35 722 до 31 224). Это значит, что инвестиции в обновление фондов меньше, чем их износ.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793650" y="596400"/>
            <a:ext cx="4350600" cy="1578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Сумма обязательств, инвестиций в дочерние и ассоциированные компании, финансовые вложения застыла на уровне 5877/3515/1042. Это странно для растущего по выручке бизнеса и требует пояснения.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75" y="3878100"/>
            <a:ext cx="9144000" cy="12654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swald"/>
                <a:ea typeface="Oswald"/>
                <a:cs typeface="Oswald"/>
                <a:sym typeface="Oswald"/>
              </a:rPr>
              <a:t>Выводы: 1)Выявление причин опережающего роста расходов. 2)Если выручка растет, а прибыль падает, возможно, мы продаем товар слишком дешево. 3)Обсуждение необходимости обновления основных средств, чтобы остановить их сокращение.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69925" y="2367050"/>
            <a:ext cx="7116000" cy="1191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Oswald"/>
                <a:ea typeface="Oswald"/>
                <a:cs typeface="Oswald"/>
                <a:sym typeface="Oswald"/>
              </a:rPr>
              <a:t>Рост собственного капитала и снижение дебиторской задолженности - это позитивные сигналы. Значит компания генерирует чистую прибыль и оставляет ее в бизнесе, снизился риск безнадежных долгов, ликвидность и быстрота расчетов от контрагентов в кассу также повысились.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56325" y="2252675"/>
            <a:ext cx="387000" cy="162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8273325" y="2213550"/>
            <a:ext cx="387000" cy="162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914925" y="3558050"/>
            <a:ext cx="3870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РЕНТАБЕЛЬНОСТЬ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4572000" y="572700"/>
            <a:ext cx="4572000" cy="199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Г — эффективно использует капитал.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Несмотря на средний ROS (15%), у него самый высокий ROE (36,7%). Это значит, что оно лучше всех крутит вложенные собственниками деньги.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0" y="572700"/>
            <a:ext cx="4572000" cy="1999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А — безусловный лидер.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Самая высокая рентабельность продаж (ROS ~29%) и активов (ROA ~23%). Это наиболее эффективная часть бизнеса.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0" y="2571900"/>
            <a:ext cx="4572000" cy="2571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В — «проблемная зона» и аутсайдер.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ROS составляет всего 2,7%, а ROA — 4%. Оно потребляет ресурсы, но почти не приносит прибыли.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72100" y="2572025"/>
            <a:ext cx="4572000" cy="2571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Б — крепкий середнячок.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Адекватная маржинальность (ROS ≈ 17,5%) и высокая эффективность использования ресурсов (ROA ≈ 14%), а также эффективная работа с капиталом (ROE ≈ 20%) находятся на удовлетворительных позициях и демонстрирует здоровую и сбалансированную модель бизнеса.</a:t>
            </a:r>
            <a:endParaRPr b="1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ОБОРАЧИВАЕМОСТЬ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838400" y="572700"/>
            <a:ext cx="4305600" cy="1965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Подразделение Г — агрессивный «спринтер»</a:t>
            </a:r>
            <a:endParaRPr b="1"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Oswald"/>
                <a:ea typeface="Oswald"/>
                <a:cs typeface="Oswald"/>
                <a:sym typeface="Oswald"/>
              </a:rPr>
              <a:t>Аномально высокая оборачиваемость дебиторки (8,78) и активов (1,67). Деньги от покупателей прилетают очень быстро, а активы работают на износ. Именно эта скорость позволяет подразделению Г иметь такой высокий ROE (36%). Можно сказать, что подразделение Г «кредитует» своих покупателей за счет компании, что создает риск невозврата денег.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0" y="572700"/>
            <a:ext cx="4838400" cy="1965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Подразделение А — эталон баланса</a:t>
            </a:r>
            <a:endParaRPr b="1"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Oswald"/>
                <a:ea typeface="Oswald"/>
                <a:cs typeface="Oswald"/>
                <a:sym typeface="Oswald"/>
              </a:rPr>
              <a:t>Высокий показатель дебиторки (</a:t>
            </a: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6,3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) и активов (</a:t>
            </a: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0,78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) 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при лидерстве по прибыли говорит о том,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 деньги оборачиваются достаточно быстро, чтобы поддерживать ту высокую рентабельность, которую мы видели раньше. Это самый эффективно работающий механизм в группе. Но одновременно это говорит о замороженных активах, о том, что скопилось большое количество долгов покупателей, которые срочно нужно превращать в наличность.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" name="Google Shape;114;p18"/>
          <p:cNvSpPr/>
          <p:nvPr/>
        </p:nvSpPr>
        <p:spPr>
          <a:xfrm flipH="1">
            <a:off x="-100" y="2538300"/>
            <a:ext cx="9144000" cy="26055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Б — медленный, но верный</a:t>
            </a:r>
            <a:endParaRPr b="1" sz="13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Коэффициент оборачиваемости дебиторской задолженности здесь самый низкий среди работающих в кредит (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1,45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Значит покупатели и контрагенты подразделения Б платят очень медленно, есть проблема с “зависанием денег”. Это крепкий середнячок по активам, но ему нужно жестче работать с дебиторкой, чтобы высвободить наличность. </a:t>
            </a:r>
            <a:endParaRPr sz="13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Подразделение В — «черная дыра» по активам из-за катастрофически низкой 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оборачиваемости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активов.</a:t>
            </a:r>
            <a:endParaRPr sz="13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Огромная масса имущества или запасов генерирует мизерную выручку. Отсутствие дебиторской задолженности может означать, что продаж в кредит либо нет вообще, либо они настолько малы, что коэффициент не считается. Это подразделение — главный кандидат на реструктуризацию.</a:t>
            </a:r>
            <a:endParaRPr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ФИНАНСОВАЯ УСТОЙЧИВОСТЬ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0" y="572700"/>
            <a:ext cx="91440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22325" y="1842300"/>
            <a:ext cx="9121500" cy="14589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Коэффициент обеспеченности собственными оборотными средствами.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Проблема в компании В: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Значение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-2,62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— критический сигнал. Отрицательный коэффициент означает, что у компании нет собственных оборотных средств, и весь оборотный капитал (а также часть внеоборотных активов) сформирован за счет заемных средств. Это признак высокой зависимости от кредиторов.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Устойчивость в компании Г: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Здесь самый высокий показатель (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0,576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), что говорит о хорошем запасе прочности.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Компании А и Б: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Находятся в «зеленой зоне» (0,41 и 0,109 соответственно), хотя у компании Б запас минимален.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2325" y="565700"/>
            <a:ext cx="9121500" cy="12951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Коэффициент финансовой устойчивости. Лидеры: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Компании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(0,966) и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А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(0,913) демонстрируют очень высокую устойчивость. Почти все их активы сформированы за счет устойчивых источников.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Группа в целом: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Значение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0,891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является отличным показателем (нормативным считается значение выше 0,7–0,8), что говорит о надежности финансовой структуры всей группы. </a:t>
            </a: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Компания Г: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Имеет самый низкий показатель в группе (0,715), но он все равно находится в рамках нормы.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2325" y="3301200"/>
            <a:ext cx="9121500" cy="18423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Коэффициент маневренности собственного капитала. Компания Г: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Самая высокая маневренность (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0,541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). Компания может гибко распоряжаться своими средствами. 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Компания В: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Отрицательное значение (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-0,29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 подтверждает выводы по предыдущему пункту: собственный капитал полностью «заморожен» во внеоборотных активах, и его не хватает даже для покрытия операционной деятельности. 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Компании А и Б: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Демонстрируют низкую маневренность (менее 0,1), что характерно для фондоемких производств, где большая часть капитала вложена в оборудование или здания.</a:t>
            </a:r>
            <a:endParaRPr b="1"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0" y="0"/>
            <a:ext cx="911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ЛИКВИДНОСТЬ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0" y="572700"/>
            <a:ext cx="9111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14875" y="3613650"/>
            <a:ext cx="9111000" cy="15111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Мгновенная ликвидность: 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Аномально высокие значения: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Все компании имеют показатели в диапазоне 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1,68 – 2,35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 Это значительно выше нормы. 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Компания В: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Имеет самый высокий показатель (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2,35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). У нее практически весь оборотный капитал — это «живые» деньги или их эквиваленты. 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Компания А: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Имеет «самый низкий» показатель в группе (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1,68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), что всё равно в 8 раз превышает минимальный порог безопасности.</a:t>
            </a:r>
            <a:endParaRPr b="1"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14875" y="565700"/>
            <a:ext cx="9111000" cy="1511100"/>
          </a:xfrm>
          <a:prstGeom prst="rect">
            <a:avLst/>
          </a:prstGeom>
          <a:solidFill>
            <a:srgbClr val="783F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Текущая ликвидность: 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Все компании (А, Б, В, Г) и группа в целом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находятся в идеальном диапазоне (</a:t>
            </a:r>
            <a:r>
              <a:rPr b="1"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от 2,10 до 2,36</a:t>
            </a:r>
            <a:r>
              <a:rPr lang="ru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). Это говорит о том, что у компаний достаточно ресурсов, чтобы полностью погасить текущие долги, даже если придется реализовать все запасы.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0" y="2102550"/>
            <a:ext cx="9111000" cy="15111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Быстрая ликвидность: Компании А, Б и В: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У них показатели текущей и быстрой ликвидности 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идентичны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(например, у А: 2,10 и 2,10). У этих компаний практически 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отсутствуют материальные запасы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на балансе. Весь их оборотный капитал состоит из денежных средств и дебиторской задолженности. </a:t>
            </a: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Компания Г: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Единственная, у кого показатели различаются (Текущая — 2,36, Быстрая — 2,36, Абсолютная — 2,25). Это указывает на наличие небольшого объема запасов или прочих оборотных активов.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РЕНТАБЕЛЬНОСТЬ ПРОДАЖ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280100" y="572700"/>
            <a:ext cx="4863900" cy="199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Компания Г — «Эффект дырявого ведра»</a:t>
            </a:r>
            <a:endParaRPr b="1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Парадокс. Компания Г продает свой товар/услугу с самой высокой маржой, но на выходе получает операционную прибыль почти вдвое меньше, чем компания А. Это значит, что внутри компании Г огромные «потери» (высокие зарплаты, дорогая логистика или раздутый штат), которые съедают всё преимущество высокой наценки.</a:t>
            </a:r>
            <a:endParaRPr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0" y="572700"/>
            <a:ext cx="4280100" cy="1999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Oswald"/>
                <a:ea typeface="Oswald"/>
                <a:cs typeface="Oswald"/>
                <a:sym typeface="Oswald"/>
              </a:rPr>
              <a:t>Компания А — Золотой стандарт группы</a:t>
            </a:r>
            <a:br>
              <a:rPr b="1" lang="ru">
                <a:latin typeface="Oswald"/>
                <a:ea typeface="Oswald"/>
                <a:cs typeface="Oswald"/>
                <a:sym typeface="Oswald"/>
              </a:rPr>
            </a:br>
            <a:r>
              <a:rPr lang="ru">
                <a:latin typeface="Oswald"/>
                <a:ea typeface="Oswald"/>
                <a:cs typeface="Oswald"/>
                <a:sym typeface="Oswald"/>
              </a:rPr>
              <a:t>Это самая эффективная компания. У неё не только высокая наценка на продукт, но и самая здоровая дистанция между «грязной» и операционной прибылью. Она лучше всех контролирует свои внутренние затраты.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0" y="2571900"/>
            <a:ext cx="4572000" cy="2571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Oswald"/>
                <a:ea typeface="Oswald"/>
                <a:cs typeface="Oswald"/>
                <a:sym typeface="Oswald"/>
              </a:rPr>
              <a:t>Компания Б — Стабильный середняк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Показатели умеренные. Она менее эффективна в продажах, чем А и Г, но управляет своими расходами достаточно аккуратно, удерживая приемлемый уровень операционной прибыли.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4572000" y="2608325"/>
            <a:ext cx="4572000" cy="25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Компания В — Зона высокого риска</a:t>
            </a:r>
            <a:endParaRPr b="1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Бизнес-модель компании В находится под угрозой. У неё самая низкая маржинальность продукта, и при этом почти вся валовая прибыль уходит на содержание самой компании. Запас прочности всего 2,7% — любое случайное падение продаж или рост аренды сделает компанию убыточной.</a:t>
            </a:r>
            <a:endParaRPr b="1" sz="16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КАПИТАЛА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4141200" y="572700"/>
            <a:ext cx="5002800" cy="199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Компания Г — Высокая эффективность при умеренном долге</a:t>
            </a:r>
            <a:endParaRPr b="1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Очень хорошие показатели. Долг меньше годовой прибыли (0,79), что делает компанию финансово очень устойчивой. Даже с учетом её высоких операционных расходов (о которых мы говорили выше), она остается очень надежной и имеет огромный запас для привлечения кредитов, если решит оптимизировать затраты.</a:t>
            </a:r>
            <a:endParaRPr sz="16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0" y="572700"/>
            <a:ext cx="4141200" cy="25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Oswald"/>
                <a:ea typeface="Oswald"/>
                <a:cs typeface="Oswald"/>
                <a:sym typeface="Oswald"/>
              </a:rPr>
              <a:t>Компания А — Абсолютная устойчивос</a:t>
            </a:r>
            <a:r>
              <a:rPr b="1" lang="ru">
                <a:latin typeface="Oswald"/>
                <a:ea typeface="Oswald"/>
                <a:cs typeface="Oswald"/>
                <a:sym typeface="Oswald"/>
              </a:rPr>
              <a:t>ть</a:t>
            </a:r>
            <a:br>
              <a:rPr b="1" lang="ru">
                <a:latin typeface="Oswald"/>
                <a:ea typeface="Oswald"/>
                <a:cs typeface="Oswald"/>
                <a:sym typeface="Oswald"/>
              </a:rPr>
            </a:b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Это самая финансово независимая и безопасная компания в группе. Учитывая, что у неё была самая высокая рентабельность по EBITDA (38,7%), она генерирует огромный денежный поток и практически не зависит от внешних кредиторов. Идеальный кандидат для инвестиций или масштабирования.</a:t>
            </a:r>
            <a:endParaRPr b="1"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0" y="3144300"/>
            <a:ext cx="4141200" cy="1999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Oswald"/>
                <a:ea typeface="Oswald"/>
                <a:cs typeface="Oswald"/>
                <a:sym typeface="Oswald"/>
              </a:rPr>
              <a:t>Компания Б — Сбалансированный риск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Классическая структура капитала для стабильного бизнеса. Долг в 1,4 раза превышает годовую прибыль (EBITDA), что является абсолютно нормальным и безопасным уровнем. Компания эффективно использует заемный рычаг при хорошей рентабельности.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4141200" y="2608325"/>
            <a:ext cx="5002800" cy="25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Компания В — Преддефолтное состояние</a:t>
            </a:r>
            <a:endParaRPr b="1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Вот здесь кроется главная проблема. Несмотря на то, что у компании много собственного капитала (автономия 71%), её долг в </a:t>
            </a: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7 раз</a:t>
            </a: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превышает её операционную прибыль (EBITDA). При рентабельности в 2,7%, которую мы видели ранее, компания практически </a:t>
            </a:r>
            <a:r>
              <a:rPr b="1"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не способна обслуживать свои долги</a:t>
            </a:r>
            <a:r>
              <a:rPr lang="ru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b="1"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0" y="572700"/>
            <a:ext cx="9144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4141200" y="572700"/>
            <a:ext cx="5002800" cy="199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2. Компания Б: «Стабильный середняк». 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Демонстрирует средние показатели по всем фронтам. 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Особенность: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Имеет самую высокую долговую нагрузку в группе (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1,41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), что сказывается на финансовой устойчивости, но при этом поддерживает адекватный уровень рентабельности. 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Ликвидность: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Избыточная (как и у всей группы), что страхует её от рисков, связанных с долгом. </a:t>
            </a:r>
            <a:r>
              <a:rPr b="1"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Вердикт:</a:t>
            </a:r>
            <a:r>
              <a:rPr lang="ru" sz="13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Работает стабильно, но её финансовая структура чуть более рискованная, чем у соседа «А».</a:t>
            </a:r>
            <a:endParaRPr b="1" sz="20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0" y="572700"/>
            <a:ext cx="4141200" cy="1999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1. Компания А: «Надежный лидер». 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Это самая эффективная и сбалансированная компания в группе.</a:t>
            </a:r>
            <a:endParaRPr sz="11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Эффективность: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Самая высокая рентабельность активов (</a:t>
            </a: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ROA: 0,229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 и собственного капитала (</a:t>
            </a: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ROE: 0,256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Она лучше всех превращает вложения в прибыль. </a:t>
            </a: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Устойчивость: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Высокий уровень автономии (</a:t>
            </a: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0,89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 и комфортная долговая 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н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агрузка. </a:t>
            </a:r>
            <a:r>
              <a:rPr b="1"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Вердикт:</a:t>
            </a:r>
            <a:r>
              <a:rPr lang="ru" sz="11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Флагман группы с отличным запасом прочности и высокой операционной эффективностью.</a:t>
            </a:r>
            <a:endParaRPr b="1" sz="1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0" y="2608200"/>
            <a:ext cx="4141200" cy="253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3. Компания В: «Зона риска и аномалий». 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Самое противоречивое звено.</a:t>
            </a:r>
            <a:endParaRPr sz="10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Кризис прибыльности: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Имеет критически низкую рентабельность продаж (</a:t>
            </a: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ROS: 0,027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По сути, компания работает почти «в ноль».</a:t>
            </a:r>
            <a:endParaRPr sz="10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Дисбаланс капитала: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Единственная компания с </a:t>
            </a: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отрицательным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коэффициентом обеспеченности собственными оборотными средствами (</a:t>
            </a: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-2,62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Это значит, что её оборотный капитал полностью сформирован за счет долгов.</a:t>
            </a:r>
            <a:endParaRPr sz="10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Парадокс: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При этом у неё самая высокая абсолютная ликвидность (</a:t>
            </a: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2,35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). Вероятно, она получила крупный кредит или транш, который просто лежит на счетах и не «работает».</a:t>
            </a:r>
            <a:endParaRPr sz="10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Вердикт:</a:t>
            </a:r>
            <a:r>
              <a:rPr lang="ru" sz="10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Находится в предкризисном состоянии с точки зрения операционной деятельности. Требует немедленного пересмотра затрат.</a:t>
            </a:r>
            <a:endParaRPr b="1" sz="1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4141200" y="2608325"/>
            <a:ext cx="5002800" cy="25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4. Компания Г: «Избыточная осторожность». 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Интересна своей структурой оборачиваемости.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Дебиторская задолженность: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 Самый высокий коэффициент оборачиваемости (</a:t>
            </a: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8,78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), что означает — клиенты платят ей быстрее всех.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Эффективность: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 Хорошие показатели ROE (</a:t>
            </a: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0,367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), что говорит о высокой отдаче на капитал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 акционеров.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Oswald"/>
                <a:ea typeface="Oswald"/>
                <a:cs typeface="Oswald"/>
                <a:sym typeface="Oswald"/>
              </a:rPr>
              <a:t>Вердикт:</a:t>
            </a:r>
            <a:r>
              <a:rPr lang="ru" sz="1200">
                <a:latin typeface="Oswald"/>
                <a:ea typeface="Oswald"/>
                <a:cs typeface="Oswald"/>
                <a:sym typeface="Oswald"/>
              </a:rPr>
              <a:t> Динамичная компания с отличной работой по сбору платежей, но, как и остальные, страдает от «затоваривания» деньгами (избыточная ликвидность).</a:t>
            </a:r>
            <a:endParaRPr b="1" sz="1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Общий вывод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0" y="572700"/>
            <a:ext cx="9144000" cy="4570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Общий вывод по Группе (А-Б-В-Г)</a:t>
            </a:r>
            <a:endParaRPr b="1"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Группа в целом выглядит </a:t>
            </a: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финансово сверх-устойчивой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, но </a:t>
            </a: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недостаточно эффективной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800"/>
              <a:buAutoNum type="arabicPeriod"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Проблема «мертвых денег»: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У всей группы показатели ликвидности в 10 раз выше нормы. Огромные суммы просто лежат на счетах, не принося прибыли.</a:t>
            </a:r>
            <a:endParaRPr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AutoNum type="arabicPeriod"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Низкая маржинальность: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Общая рентабельность по чистой прибыли (</a:t>
            </a: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19%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) при такой ликвидности могла бы быть выше, если бы средства были пущены в оборот.</a:t>
            </a:r>
            <a:endParaRPr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AutoNum type="arabicPeriod"/>
            </a:pPr>
            <a:r>
              <a:rPr b="1"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Скрытая угроза:</a:t>
            </a:r>
            <a:r>
              <a:rPr lang="ru" sz="18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Компания «В» портит общую картину устойчивости оборотных средств, что может стать проблемой для всей группы в будущем.</a:t>
            </a:r>
            <a:endParaRPr sz="18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ФИНАНСОВЫЕ МОДЕЛИ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0" y="572700"/>
            <a:ext cx="9144000" cy="45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Все пять графиков имеют устойчивый восходящий тренд. Это говорит о том, что каждый анализируемый этап (или подразделение/период) вносит </a:t>
            </a: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положительный вклад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в общий результат. Нет «красных» зон (отрицательных значений), которые бы тянули показатели вниз.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Себестоимость vs Валовая прибыль: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График себестоимости растет ступенчато, но график валовой прибыли (до 600 000+) обгоняет его. Это признак </a:t>
            </a: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хорошей маржинальности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: компания зарабатывает значительно больше, чем тратит на производство.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Денежный поток (Cash Flow):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Обратите внимание на «высокие ступени» в начале графика. Это значит, что основные поступления приходят на ранних этапах. К концу периода поток стабилизируется.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Денежные средства (Cash):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Накопление ликвидности идет равномерно. Финальная точка (~450 000) подтверждает, что у компании нет проблем с кассовыми разрывами.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Нераспределенная прибыль: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Это самый важный график для акционеров. Он показывает, что компания стабильно генерирует стоимость, которая остается внутри бизнеса для дальнейшего развития.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Высокая предсказуемость: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Модель выглядит очень линейной и стабильной. В ней нет резких провалов или аномальных всплесков.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Эффективность масштабирования: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Почти каждый новый шаг (столбец) добавляет примерно равную долю к итоговому результату. Это идеальная картина для расширения бизнеса.</a:t>
            </a:r>
            <a:endParaRPr sz="1200">
              <a:solidFill>
                <a:srgbClr val="0A0A0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Контроль затрат: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 Несмотря на рост себестоимости, она остается под контролем и не «съедает» чистую прибыль.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Бизнес-модель выглядит </a:t>
            </a:r>
            <a:r>
              <a:rPr b="1"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сбалансированной и финансово устойчивой</a:t>
            </a:r>
            <a:r>
              <a:rPr lang="ru" sz="1200">
                <a:solidFill>
                  <a:srgbClr val="0A0A0A"/>
                </a:solidFill>
                <a:latin typeface="Oswald"/>
                <a:ea typeface="Oswald"/>
                <a:cs typeface="Oswald"/>
                <a:sym typeface="Oswald"/>
              </a:rPr>
              <a:t>. Однако нужно искать возможности для реинвестирования денежных средств, а не почивать на лаврах.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82" name="Google Shape;182;p26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Литвинов Егор. Когорта-22. Дипломный проект. Яндекс Практикум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